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3"/>
  </p:sldMasterIdLst>
  <p:notesMasterIdLst>
    <p:notesMasterId r:id="rId12"/>
  </p:notesMasterIdLst>
  <p:handoutMasterIdLst>
    <p:handoutMasterId r:id="rId35"/>
  </p:handoutMasterIdLst>
  <p:sldIdLst>
    <p:sldId id="256" r:id="rId9"/>
    <p:sldId id="257" r:id="rId10"/>
    <p:sldId id="258" r:id="rId11"/>
    <p:sldId id="259" r:id="rId8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2"/>
    <p:restoredTop sz="95271"/>
  </p:normalViewPr>
  <p:slideViewPr>
    <p:cSldViewPr snapToGrid="0">
      <p:cViewPr varScale="1">
        <p:scale>
          <a:sx n="97" d="100"/>
          <a:sy n="97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8" Type="http://schemas.openxmlformats.org/officeDocument/2006/relationships/slide" Target="slides/slide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99EEE-3E5A-A947-A29B-6AEBF114206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3D72D-2ED6-B046-86CF-D42ED2948F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21212t文件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t文件2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pp21212t文件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21212t文件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t文件2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pp21212t文件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海星育数字化V1.0管理平台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项目验收汇报 | 甲方审计材料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一、项目概况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一、项目概况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项目名称：海星育数字化V1.0管理平台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项目业主：北京海新域城市更新集团有限公司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项目负责人：黄亮  18001107580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承建单位：北京胜达讯科技有限公司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项目经理：周泉  13701386607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项目地点：西山温泉体育公园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主营业务：冬季滑雪（雪季约90天）+ 非雪季多元化运营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项目任务：海星育数字化V1.0管理平台研发及上线实施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验收时间：2024年3月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二、项目规划与执行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第一阶段：需求调研与分析（2023年4月-5月）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完成业务流程梳理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编写需求规格说明书（v1.0，2023-07-17）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系统架构设计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第二阶段：系统开发（2023年6月-10月）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非雪季运营系统开发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微信小程序开发（C端+核销端）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管理后台开发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雪季系统私有化部署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第三阶段：系统集成与测试（2023年11月-12月）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雪季与非雪季系统对接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山地学院数据同步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功能测试与性能优化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第四阶段：上线与验收（2024年1月-3月）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系统正式上线运行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用户培训与支持</a:t>
            </a:r>
          </a:p>
          <a:p>
            <a:pPr lvl="1">
              <a:spcAft>
                <a:spcPts val="200"/>
              </a:spcAft>
              <a:defRPr sz="11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2024年3月通过验收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三、业务背景与需求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业务痛点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雪季仅90天（12月-2月），剩余275天资产闲置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现有雪季系统为第三方SAAS，无法自主控制数据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缺乏非雪季业务支撑系统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用户数据分散，无法统一管理和精准营销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业务需求（来自需求规格说明书）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盘活闲置资产，开展多元化非雪季业务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建设非雪季运营系统，支持各类活动和场地预订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实现雪季与非雪季系统数据打通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提供移动端支持（微信小程序）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建立数据分析体系，支持精准营销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非雪季业务场景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亲子户外活动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公司团建活动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场地赛事活动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场地租赁（篮球、羽毛球等）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预约教练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拼班雪课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四、系统建设内容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四大系统平台（功能验收清单）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【1. 雪季系统私有化部署】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数据分离与迁移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私有服务器部署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租赁手持端、闸机客户端独立部署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第三方渠道对接（美团、携程、抖音）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【2. 海星育微信小程序】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C端用户小程序（客户使用）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核销端小程序（员工核销）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雪季和非雪季功能融合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【3. 雪季系统和山地学院数据同步】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用户数据打通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订单数据同步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单点登录实现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【4. 非雪季系统上线】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管理后台系统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业务流程完整闭环</a:t>
            </a:r>
          </a:p>
          <a:p>
            <a:pPr lvl="1">
              <a:spcAft>
                <a:spcPts val="200"/>
              </a:spcAft>
              <a:defRPr sz="10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数据分析与报表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五、非雪季系统 - C端小程序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【主页模块】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轮播图展示（后台可配置）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雪季热销产品推荐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推荐活动展示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位置信息与交通指南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【频道模块】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亲子户外、公司团建、场地赛事、雪场介绍、拼班雪课、预约教练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【雪票模块】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全部雪季产品列表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分类展示产品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产品详情与在线购买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【精彩活动模块】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活动列表与搜索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活动详情（报名、收藏、分享）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活动支付与消息提醒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【场地预订模块】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场地列表与详情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在线预订（选时间、选场地）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支付与消息提醒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【订单模块】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活动订单/场地订单/雪票订单（按状态分类）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订单详情（二维码核销）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退款流程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【个人中心】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我的订单、积分商城、每日签到、小游戏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优惠券、消息中心、投诉建议、收藏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六、核销小程序功能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登录功能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手机号+密码登录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授权微信自动登录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登录状态保持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与微信公众平台对接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扫码核销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扫描门票二维码完成核销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支持手动输入核销码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自动识别活动票/场地票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核销后票码状态更新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购票详情查看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查看购票人信息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查看购买渠道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核销时间记录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已核销门票管理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已核销活动门票列表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已核销场地门票列表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门票编号与核销时间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购票详情查询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权限管理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只有被指定为核销员的员工才能登录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管理员在后台员工管理中维护核销员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七、管理后台功能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【活动管理】创建、编辑、删除活动；活动列表查询；评价审核；指定核销员；活动订单管理；退款审核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【场地管理】创建、编辑场地；场地列表；场地资源管理；场地预订看板；订单管理（散客+管理员预订）；退款审核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【订单管理】订单查询（按状态、编号、姓名、手机号）；退款订单处理；订单详情查看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【用户管理】用户列表（支持按条件查询）；用户订单查看；用户信息维护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【优惠券管理】优惠券创建、删除、复制；领取记录查看；使用策略设置；按领取方式、使用状态查询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【积分管理】积分规则设置；订单类积分；任务类积分；积分商城商品管理；积分订单管理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【小游戏管理】小游戏列表；条件查询；新建、删除、上架小游戏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【员工管理】员工列表；员工详情；员工信息维护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【财务管理】商户结算审核；财务报表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【数据分析】销售统计（出票数、退票数、营业额、实收、入园人数）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【系统管理】首页Banner轮播图设置；操作日志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八、雪季系统功能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雪季系统功能模块（功能验收清单）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【票务管理】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实现对雪票电子票或纸质票的全面管理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【订单管理】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各类雪票订单管理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教务订单管理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租赁订单管理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【工作台】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现场售票功能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教练预约与下单管理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【通行管理】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闸机管控进出雪场人员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支持人脸识别通行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支持雪票二维码通行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【控制面板】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雪票产品设置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电子/纸质票设置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闸机配置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教练、分销商、节假日、租赁物等运营参数管理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【报表管理】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票务核销报表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教学核销报表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教学数据看板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【系统管理】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文件管理、身份标识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日志及系统参数设置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九、系统集成方案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用户身份认证和单点登录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用户使用一个账号密码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单点登录机制实现两系统认证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统一用户门户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权限和角色同步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用户角色和权限同步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保证不同系统中权限一致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核心业务流程对接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雪季与非雪季业务流程对接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确保业务连贯一致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数据交换接口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标准的数据交换接口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确保重要数据互通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用户数据打通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订单数据同步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山地学院数据同步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与山地学院系统建立数据同步通道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实现多系统数据一致性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十、技术架构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系统架构（分层设计）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【前端层】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管理后台（PC Web）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微信小程序（C端）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核销小程序（员工端）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【应用层】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Java Spring Boot 微服务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RESTful API接口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JWT身份认证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业务逻辑处理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【数据层】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MySQL 8.0 数据库（主从热备）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Redis 分布式缓存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文件存储系统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【对接层】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雪季系统API对接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山地学院数据同步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微信支付/支付宝接口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第三方渠道（美团、携程、抖音）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部署方式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私有化部署（本地服务器）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Linux CentOS 7操作系统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Nginx负载均衡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高可用性设计（99.9%可用性）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十一、项目管理过程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管理模式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敏捷开发，2周一个迭代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每周项目例会（周三）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每日站会同步进度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问题及时上报与解决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沟通机制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项目例会：每周三下午定期召开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需求评审：需求变更前评审确认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甲乙双方紧密配合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过程文档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- 9次项目会议纪要（2023年4月-10月）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- 35份工作周报（2023年6月-2024年3月）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需求规格说明书v1.0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技术方案文档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使用手册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质量保障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代码评审机制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功能测试与性能测试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安全审计与漏洞扫描</a:t>
            </a:r>
          </a:p>
          <a:p>
            <a:pPr lvl="1"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用户培训与现场支持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十二、项目团队组成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项目组织架构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【项目管理层】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项目经理：周泉（北京胜达讯）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甲方负责人：黄亮（北京海新域）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【核心开发团队】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系统架构师 × 1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系统分析师 × 1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前端开发工程师 × 2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后端开发工程师 × 3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测试工程师 × 1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UI/UX设计师 × 1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【支持团队】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产品经理 × 1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数据库管理员 × 1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运维工程师 × 1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团队角色说明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系统管理员：系统整体管理和维护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操作人员：执行日常操作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系统开发人员：功能代码开发和测试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数据库管理员：数据库管理与性能优化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测试人员：功能测试、性能测试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产品经理：产品路线图和需求定义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用户：终端用户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十三、交付物清单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项目文档移交（接收人：黄亮）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1. 雪季和非雪季系统方案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2. 非雪季系统需求说明书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3. 非雪季系统后台管理手册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4. 非雪季系统数据结构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5. 非雪季系统数据字典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源代码及产品移交（接收人：黄亮）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1. 非雪季系统源代码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2. 非雪季后台系统（线上系统及镜像）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3. 雪季系统后台（线上系统）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4. 小程序源代码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系统交付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非雪季运营管理系统（已上线）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海星育微信小程序（C端，已发布）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核销小程序（员工端，已部署）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雪季系统私有化版本（已部署）</a:t>
            </a: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</a:p>
          <a:p>
            <a:pPr>
              <a:spcAft>
                <a:spcPts val="2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运营支持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用户操作培训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技术支持与维护</a:t>
            </a:r>
          </a:p>
          <a:p>
            <a:pPr lvl="1"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数据分析报告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十四、项目验收情况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验收时间：2024年3月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验收单位</a:t>
            </a:r>
          </a:p>
          <a:p>
            <a:pPr lvl="1">
              <a:spcAft>
                <a:spcPts val="200"/>
              </a:spcAft>
              <a:defRPr sz="900">
                <a:latin typeface="WenQuanYi Zen Hei"/>
              </a:defRPr>
            </a:pPr>
            <a:r>
              <a:rPr>
                <a:latin typeface="WenQuanYi Zen Hei"/>
              </a:rPr>
              <a:t>   - 甲方：北京海新域城市更新集团有限公司</a:t>
            </a:r>
          </a:p>
          <a:p>
            <a:pPr lvl="1">
              <a:spcAft>
                <a:spcPts val="200"/>
              </a:spcAft>
              <a:defRPr sz="900">
                <a:latin typeface="WenQuanYi Zen Hei"/>
              </a:defRPr>
            </a:pPr>
            <a:r>
              <a:rPr>
                <a:latin typeface="WenQuanYi Zen Hei"/>
              </a:rPr>
              <a:t>   - 乙方：北京胜达讯科技有限公司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验收结论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软硬件系统已安装调试完成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具备项目验收条件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系统正式启动运行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项目实施成果经双方认可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通过验收并完成交接工作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验收内容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四大软件平台功能验收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29项功能模块验收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项目文档完整性验收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源代码移交验收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系统性能指标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支持5万日活用户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页面响应时间 &lt; 1秒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支持1000用户同时在线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承受每秒3000请求流量</a:t>
            </a:r>
          </a:p>
          <a:p>
            <a:pPr lvl="1">
              <a:spcAft>
                <a:spcPts val="200"/>
              </a:spcAft>
              <a:defRPr sz="900">
                <a:solidFill>
                  <a:srgbClr val="00B050"/>
                </a:solidFill>
                <a:latin typeface="WenQuanYi Zen Hei"/>
              </a:defRPr>
            </a:pPr>
            <a:r>
              <a:rPr>
                <a:latin typeface="WenQuanYi Zen Hei"/>
              </a:rPr>
              <a:t>   ✓ 系统可用性 &gt; 99.9%</a:t>
            </a: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</a:p>
          <a:p>
            <a:pPr>
              <a:spcAft>
                <a:spcPts val="2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遗留问题：无重大遗留问题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谢谢！</a:t>
            </a:r>
          </a:p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</a:p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3756</Words>
  <Application>WPS 演示</Application>
  <PresentationFormat>宽屏</PresentationFormat>
  <Paragraphs>749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汉仪旗黑</vt:lpstr>
      <vt:lpstr>Helvetica Light</vt:lpstr>
      <vt:lpstr>OPPOSans L</vt:lpstr>
      <vt:lpstr>苹方-简</vt:lpstr>
      <vt:lpstr>Heiti SC</vt:lpstr>
      <vt:lpstr>Source Han Sans CN Regular</vt:lpstr>
      <vt:lpstr>Open Sans Light</vt:lpstr>
      <vt:lpstr>Wingdings</vt:lpstr>
      <vt:lpstr>等线 Light</vt:lpstr>
      <vt:lpstr>Calibri</vt:lpstr>
      <vt:lpstr>汉仪中等线KW</vt:lpstr>
      <vt:lpstr>Calibri</vt:lpstr>
      <vt:lpstr>微软雅黑</vt:lpstr>
      <vt:lpstr>Helvetica Neue</vt:lpstr>
      <vt:lpstr>等线</vt:lpstr>
      <vt:lpstr>宋体</vt:lpstr>
      <vt:lpstr>Arial Unicode MS</vt:lpstr>
      <vt:lpstr>汉仪书宋二KW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天然 陈</dc:creator>
  <cp:lastModifiedBy>WPS_1641772744</cp:lastModifiedBy>
  <cp:revision>460</cp:revision>
  <dcterms:created xsi:type="dcterms:W3CDTF">2023-07-10T03:24:52Z</dcterms:created>
  <dcterms:modified xsi:type="dcterms:W3CDTF">2023-07-10T03:24:52Z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2018227152E45DE6F0898964DA8B9C29_42</vt:lpwstr>
  </property>
  <property fmtid="{D5CDD505-2E9C-101B-9397-08002B2CF9AE}" pid="3" name="KSOProductBuildVer">
    <vt:lpwstr>2052-5.4.1.7920</vt:lpwstr>
  </property>
</Properties>
</file>