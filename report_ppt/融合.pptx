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5" r:id="rId3"/>
  </p:sldMasterIdLst>
  <p:notesMasterIdLst>
    <p:notesMasterId r:id="rId12"/>
  </p:notesMasterIdLst>
  <p:handoutMasterIdLst>
    <p:handoutMasterId r:id="rId35"/>
  </p:handoutMasterIdLst>
  <p:sldIdLst>
    <p:sldId id="256" r:id="rId9"/>
    <p:sldId id="257" r:id="rId10"/>
    <p:sldId id="258" r:id="rId11"/>
    <p:sldId id="259" r:id="rId8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92"/>
    <p:restoredTop sz="95271"/>
  </p:normalViewPr>
  <p:slideViewPr>
    <p:cSldViewPr snapToGrid="0">
      <p:cViewPr varScale="1">
        <p:scale>
          <a:sx n="97" d="100"/>
          <a:sy n="97" d="100"/>
        </p:scale>
        <p:origin x="5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8" Type="http://schemas.openxmlformats.org/officeDocument/2006/relationships/slide" Target="slides/slide4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35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999EEE-3E5A-A947-A29B-6AEBF114206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3D72D-2ED6-B046-86CF-D42ED2948F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pp21212t文件-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pp21212t文件-0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ppt文件2-0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0" y="0"/>
            <a:ext cx="1218946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pp21212t文件-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pp21212t文件-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0" y="0"/>
            <a:ext cx="1218946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pp21212t文件-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pp21212t文件-0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ppt文件2-0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0" y="0"/>
            <a:ext cx="1218946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pp21212t文件-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pp21212t文件-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0" y="0"/>
            <a:ext cx="1218946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周三项目汇报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595959"/>
                </a:solidFill>
                <a:latin typeface="WenQuanYi Zen Hei"/>
              </a:defRPr>
            </a:pPr>
            <a:r>
              <a:rPr>
                <a:latin typeface="WenQuanYi Zen Hei"/>
              </a:rPr>
              <a:t>胜达讯项目团队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一、项目规划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项目目标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构建高效、可靠的业务系统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提升业务处理效率和用户体验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实现数据驱动的决策支持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保障系统安全性和稳定性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5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项目范围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系统功能模块开发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数据库设计与实现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接口开发与集成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系统测试与部署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用户培训与文档编制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5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项目周期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启动时间：2023年4月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开发周期：2023年4月 - 10月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当前状态：准备验收阶段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828800"/>
            <a:ext cx="2011680" cy="73152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WenQuanYi Zen Hei"/>
              </a:defRPr>
            </a:pPr>
            <a:r>
              <a:rPr>
                <a:latin typeface="WenQuanYi Zen Hei"/>
              </a:rPr>
              <a:t>项目启动</a:t>
            </a:r>
          </a:p>
        </p:txBody>
      </p:sp>
      <p:sp>
        <p:nvSpPr>
          <p:cNvPr id="5" name="Right Arrow 4"/>
          <p:cNvSpPr/>
          <p:nvPr/>
        </p:nvSpPr>
        <p:spPr>
          <a:xfrm>
            <a:off x="7772400" y="2651760"/>
            <a:ext cx="914400" cy="365760"/>
          </a:xfrm>
          <a:prstGeom prst="rightArrow">
            <a:avLst/>
          </a:prstGeom>
          <a:solidFill>
            <a:srgbClr val="ADD8E6"/>
          </a:solidFill>
          <a:ln w="19050">
            <a:solidFill>
              <a:srgbClr val="00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0" y="3108960"/>
            <a:ext cx="2011680" cy="73152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WenQuanYi Zen Hei"/>
              </a:defRPr>
            </a:pPr>
            <a:r>
              <a:rPr>
                <a:latin typeface="WenQuanYi Zen Hei"/>
              </a:rPr>
              <a:t>需求分析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772400" y="3931920"/>
            <a:ext cx="914400" cy="365760"/>
          </a:xfrm>
          <a:prstGeom prst="rightArrow">
            <a:avLst/>
          </a:prstGeom>
          <a:solidFill>
            <a:srgbClr val="ADD8E6"/>
          </a:solidFill>
          <a:ln w="19050">
            <a:solidFill>
              <a:srgbClr val="00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0" y="4389120"/>
            <a:ext cx="2011680" cy="73152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WenQuanYi Zen Hei"/>
              </a:defRPr>
            </a:pPr>
            <a:r>
              <a:rPr>
                <a:latin typeface="WenQuanYi Zen Hei"/>
              </a:rPr>
              <a:t>系统开发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772400" y="5212080"/>
            <a:ext cx="914400" cy="365760"/>
          </a:xfrm>
          <a:prstGeom prst="rightArrow">
            <a:avLst/>
          </a:prstGeom>
          <a:solidFill>
            <a:srgbClr val="ADD8E6"/>
          </a:solidFill>
          <a:ln w="19050">
            <a:solidFill>
              <a:srgbClr val="00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0" y="5669280"/>
            <a:ext cx="2011680" cy="731520"/>
          </a:xfrm>
          <a:prstGeom prst="roundRect">
            <a:avLst/>
          </a:prstGeom>
          <a:solidFill>
            <a:srgbClr val="90EE90"/>
          </a:solidFill>
          <a:ln w="25400">
            <a:solidFill>
              <a:srgbClr val="00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WenQuanYi Zen Hei"/>
              </a:defRPr>
            </a:pPr>
            <a:r>
              <a:rPr>
                <a:latin typeface="WenQuanYi Zen Hei"/>
              </a:rPr>
              <a:t>项目验收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二、业务流程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核心业务流程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5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1. 需求收集与分析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• 用户需求调研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• 业务流程梳理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• 需求文档编写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• 需求评审与确认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5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2. 系统设计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• 总体架构设计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• 数据库详细设计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• 接口设计与规范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• 安全机制设计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5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3. 开发实现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• 模块化开发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• 代码审查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• 单元测试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• 集成测试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二、业务流程（续）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4. 系统测试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• 功能测试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• 性能测试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• 安全测试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• 用户验收测试（UAT）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5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5. 部署上线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• 生产环境准备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• 系统部署实施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• 数据迁移与验证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• 切换方案执行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5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6. 运维支持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• 7×24小时系统监控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• 快速问题响应机制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• 持续优化与改进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• 定期巡检与维护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三、系统演示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系统架构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前端展示层：响应式Web界面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业务逻辑层：RESTful API服务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数据访问层：ORM框架封装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数据存储层：关系型数据库 + 缓存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基础设施层：云服务支持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核心功能模块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用户管理模块：权限控制、角色管理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业务处理模块：核心业务流程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数据分析模块：报表统计、趋势分析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报表生成模块：多格式导出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系统管理模块：配置管理、日志审计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技术特点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高可用性：集群部署、故障自动切换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高性能：缓存优化、异步处理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高安全性：数据加密、权限控制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2286000"/>
            <a:ext cx="4572000" cy="82296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WenQuanYi Zen Hei"/>
              </a:defRPr>
            </a:pPr>
            <a:r>
              <a:rPr>
                <a:latin typeface="WenQuanYi Zen Hei"/>
              </a:rPr>
              <a:t>前端层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3291840"/>
            <a:ext cx="4572000" cy="822960"/>
          </a:xfrm>
          <a:prstGeom prst="roundRect">
            <a:avLst/>
          </a:prstGeom>
          <a:solidFill>
            <a:srgbClr val="90EE90"/>
          </a:solidFill>
          <a:ln w="25400">
            <a:solidFill>
              <a:srgbClr val="00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WenQuanYi Zen Hei"/>
              </a:defRPr>
            </a:pPr>
            <a:r>
              <a:rPr>
                <a:latin typeface="WenQuanYi Zen Hei"/>
              </a:rPr>
              <a:t>业务层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4297680"/>
            <a:ext cx="4572000" cy="822960"/>
          </a:xfrm>
          <a:prstGeom prst="roundRect">
            <a:avLst/>
          </a:prstGeom>
          <a:solidFill>
            <a:srgbClr val="FFDAB9"/>
          </a:solidFill>
          <a:ln w="25400">
            <a:solidFill>
              <a:srgbClr val="00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WenQuanYi Zen Hei"/>
              </a:defRPr>
            </a:pPr>
            <a:r>
              <a:rPr>
                <a:latin typeface="WenQuanYi Zen Hei"/>
              </a:rPr>
              <a:t>数据层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5303520"/>
            <a:ext cx="4572000" cy="822960"/>
          </a:xfrm>
          <a:prstGeom prst="roundRect">
            <a:avLst/>
          </a:prstGeom>
          <a:solidFill>
            <a:srgbClr val="DDA0DD"/>
          </a:solidFill>
          <a:ln w="25400">
            <a:solidFill>
              <a:srgbClr val="00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WenQuanYi Zen Hei"/>
              </a:defRPr>
            </a:pPr>
            <a:r>
              <a:rPr>
                <a:latin typeface="WenQuanYi Zen Hei"/>
              </a:rPr>
              <a:t>基础层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四、项目管理过程介绍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1. 管理模式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敏捷开发模式（Scrum）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两周一个迭代周期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持续集成与持续部署（CI/CD）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每周三定期例会制度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日常站会（Daily Standup）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5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2. 项目组成员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项目经理：1人（整体协调）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系统架构师：1人（技术方案）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前端工程师：2-3人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后端工程师：3-4人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测试工程师：2人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UI/UX设计师：1-2人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5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3. 沟通机制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周例会：每周三项目汇报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日常沟通：企业微信/钉钉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文档管理：Confluence协同平台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代码管理：Git版本控制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四、项目管理过程（续）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4. 进度计划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FF8C00"/>
                </a:solidFill>
                <a:latin typeface="WenQuanYi Zen Hei"/>
              </a:defRPr>
            </a:pPr>
            <a:r>
              <a:rPr>
                <a:latin typeface="WenQuanYi Zen Hei"/>
              </a:rPr>
              <a:t>已完成阶段：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2023年4月 - 项目启动与立项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2023年5月 - 需求分析与评审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2023年6月 - 系统设计与架构评审</a:t>
            </a:r>
          </a:p>
          <a:p>
            <a:pPr>
              <a:spcAft>
                <a:spcPts val="200"/>
              </a:spcAft>
              <a:defRPr sz="1400" b="1">
                <a:solidFill>
                  <a:srgbClr val="FF8C00"/>
                </a:solidFill>
                <a:latin typeface="WenQuanYi Zen Hei"/>
              </a:defRPr>
            </a:pPr>
            <a:r>
              <a:rPr>
                <a:latin typeface="WenQuanYi Zen Hei"/>
              </a:rPr>
              <a:t>• 2023年7-9月 - 开发实施阶段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2023年10月 - 系统测试与bug修复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FF8C00"/>
                </a:solidFill>
                <a:latin typeface="WenQuanYi Zen Hei"/>
              </a:defRPr>
            </a:pPr>
            <a:r>
              <a:rPr>
                <a:latin typeface="WenQuanYi Zen Hei"/>
              </a:rPr>
              <a:t>当前阶段（11月）：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系统优化与性能调优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用户培训与操作手册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准备项目验收工作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验收文档编制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FF8C00"/>
                </a:solidFill>
                <a:latin typeface="WenQuanYi Zen Hei"/>
              </a:defRPr>
            </a:pPr>
            <a:r>
              <a:rPr>
                <a:latin typeface="WenQuanYi Zen Hei"/>
              </a:rPr>
              <a:t>下一阶段（12月）：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正式验收与评审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生产环境部署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项目总结与归档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进入运维保障期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四、项目管理过程（续）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5. 相关成果物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FF8C00"/>
                </a:solidFill>
                <a:latin typeface="WenQuanYi Zen Hei"/>
              </a:defRPr>
            </a:pPr>
            <a:r>
              <a:rPr>
                <a:latin typeface="WenQuanYi Zen Hei"/>
              </a:rPr>
              <a:t>需求与设计阶段：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需求规格说明书（已完成）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用户调研报告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系统架构设计文档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数据库设计文档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接口设计文档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FF8C00"/>
                </a:solidFill>
                <a:latin typeface="WenQuanYi Zen Hei"/>
              </a:defRPr>
            </a:pPr>
            <a:r>
              <a:rPr>
                <a:latin typeface="WenQuanYi Zen Hei"/>
              </a:rPr>
              <a:t>开发与测试阶段：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完整源代码及注释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单元测试报告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集成测试报告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性能测试报告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Bug修复记录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FF8C00"/>
                </a:solidFill>
                <a:latin typeface="WenQuanYi Zen Hei"/>
              </a:defRPr>
            </a:pPr>
            <a:r>
              <a:rPr>
                <a:latin typeface="WenQuanYi Zen Hei"/>
              </a:rPr>
              <a:t>交付阶段：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系统部署文档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用户操作手册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系统运维手册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培训材料与视频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五、交付物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8C00"/>
                </a:solidFill>
                <a:latin typeface="WenQuanYi Zen Hei"/>
              </a:defRPr>
            </a:pPr>
            <a:r>
              <a:rPr>
                <a:latin typeface="WenQuanYi Zen Hei"/>
              </a:rPr>
              <a:t>1. 系统交付物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完整的系统源代码（含注释）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系统安装部署包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数据库脚本（DDL + DML）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系统配置文件模板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第三方组件清单及授权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500" b="1">
                <a:solidFill>
                  <a:srgbClr val="FF8C00"/>
                </a:solidFill>
                <a:latin typeface="WenQuanYi Zen Hei"/>
              </a:defRPr>
            </a:pPr>
            <a:r>
              <a:rPr>
                <a:latin typeface="WenQuanYi Zen Hei"/>
              </a:rPr>
              <a:t>2. 文档交付物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需求规格说明书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系统设计文档（架构+详细设计）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数据库设计文档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API接口文档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用户操作手册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系统运维手册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应急预案文档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500" b="1">
                <a:solidFill>
                  <a:srgbClr val="FF8C00"/>
                </a:solidFill>
                <a:latin typeface="WenQuanYi Zen Hei"/>
              </a:defRPr>
            </a:pPr>
            <a:r>
              <a:rPr>
                <a:latin typeface="WenQuanYi Zen Hei"/>
              </a:rPr>
              <a:t>3. 培训交付物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管理员培训PPT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用户操作培训PPT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培训视频录制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常见问题解答（FAQ）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五、交付物（续）- 数据分析报告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8C00"/>
                </a:solidFill>
                <a:latin typeface="WenQuanYi Zen Hei"/>
              </a:defRPr>
            </a:pPr>
            <a:r>
              <a:rPr>
                <a:latin typeface="WenQuanYi Zen Hei"/>
              </a:rPr>
              <a:t>4. 数据分析报告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5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系统性能分析：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响应时间：平均&lt;500ms，95分位&lt;1s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并发能力：支持1000+并发用户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资源使用：CPU&lt;60%，内存&lt;70%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系统可用性：&gt;99.5%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5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业务数据分析：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用户行为分析报告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业务流程效率提升30%+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系统日均访问量统计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核心功能使用率分析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5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质量分析报告：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Bug统计：已修复98%以上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代码质量：代码覆盖率&gt;80%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安全扫描：无高危漏洞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5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优化建议：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后续功能扩展规划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性能持续优化方案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用户体验改进建议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六、项目验收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验收准备工作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5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1. 验收文档准备</a:t>
            </a:r>
          </a:p>
          <a:p>
            <a:pPr>
              <a:spcAft>
                <a:spcPts val="200"/>
              </a:spcAft>
              <a:defRPr sz="13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项目验收申请报告</a:t>
            </a:r>
          </a:p>
          <a:p>
            <a:pPr>
              <a:spcAft>
                <a:spcPts val="200"/>
              </a:spcAft>
              <a:defRPr sz="13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项目总结报告</a:t>
            </a:r>
          </a:p>
          <a:p>
            <a:pPr>
              <a:spcAft>
                <a:spcPts val="200"/>
              </a:spcAft>
              <a:defRPr sz="13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系统测试报告汇总</a:t>
            </a:r>
          </a:p>
          <a:p>
            <a:pPr>
              <a:spcAft>
                <a:spcPts val="200"/>
              </a:spcAft>
              <a:defRPr sz="13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用户验收测试（UAT）报告</a:t>
            </a:r>
          </a:p>
          <a:p>
            <a:pPr>
              <a:spcAft>
                <a:spcPts val="200"/>
              </a:spcAft>
              <a:defRPr sz="13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项目变更记录清单</a:t>
            </a:r>
          </a:p>
          <a:p>
            <a:pPr>
              <a:spcAft>
                <a:spcPts val="200"/>
              </a:spcAft>
              <a:defRPr sz="13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问题跟踪与解决记录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5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2. 验收环境准备</a:t>
            </a:r>
          </a:p>
          <a:p>
            <a:pPr>
              <a:spcAft>
                <a:spcPts val="200"/>
              </a:spcAft>
              <a:defRPr sz="13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验收测试环境搭建完成</a:t>
            </a:r>
          </a:p>
          <a:p>
            <a:pPr>
              <a:spcAft>
                <a:spcPts val="200"/>
              </a:spcAft>
              <a:defRPr sz="13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验收数据准备与脱敏</a:t>
            </a:r>
          </a:p>
          <a:p>
            <a:pPr>
              <a:spcAft>
                <a:spcPts val="200"/>
              </a:spcAft>
              <a:defRPr sz="13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验收演示脚本编写</a:t>
            </a:r>
          </a:p>
          <a:p>
            <a:pPr>
              <a:spcAft>
                <a:spcPts val="200"/>
              </a:spcAft>
              <a:defRPr sz="13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验收团队人员组织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5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3. 验收标准</a:t>
            </a:r>
          </a:p>
          <a:p>
            <a:pPr>
              <a:spcAft>
                <a:spcPts val="200"/>
              </a:spcAft>
              <a:defRPr sz="13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功能完整性达标（100%）</a:t>
            </a:r>
          </a:p>
          <a:p>
            <a:pPr>
              <a:spcAft>
                <a:spcPts val="200"/>
              </a:spcAft>
              <a:defRPr sz="13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性能指标达标（满足SLA要求）</a:t>
            </a:r>
          </a:p>
          <a:p>
            <a:pPr>
              <a:spcAft>
                <a:spcPts val="200"/>
              </a:spcAft>
              <a:defRPr sz="13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安全性评估通过</a:t>
            </a:r>
          </a:p>
          <a:p>
            <a:pPr>
              <a:spcAft>
                <a:spcPts val="200"/>
              </a:spcAft>
              <a:defRPr sz="13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文档完整性达标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六、项目验收（续）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验收内容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1. 功能验收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核心业务功能验证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用户权限管理验证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数据处理准确性验证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异常处理机制验证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系统集成接口验证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2. 性能验收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响应时间测试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并发压力测试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大数据量处理测试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长时间稳定性测试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3. 安全性验收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身份认证与授权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数据加密传输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SQL注入防护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XSS攻击防护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敏感信息保护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4. 易用性验收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用户界面友好性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操作流畅度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帮助文档完整性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六、项目验收（续）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验收计划与时间安排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第一阶段：内部验收（第1周）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开发团队自测完成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测试团队全面测试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问题修复与回归测试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第二阶段：用户验收（第2-3周）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用户代表参与UAT测试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收集用户反馈意见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优化调整与二次验证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第三阶段：正式验收（第4周）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提交验收申请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组织验收评审会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现场演示与答辩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验收专家组评审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签署验收报告</a:t>
            </a:r>
          </a:p>
          <a:p>
            <a:pPr>
              <a:spcAft>
                <a:spcPts val="200"/>
              </a:spcAft>
              <a:defRPr sz="1200">
                <a:latin typeface="WenQuanYi Zen Hei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验收通过标准：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所有功能正常运行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性能指标达到要求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无遗留高危问题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文档资料完整齐全</a:t>
            </a:r>
          </a:p>
          <a:p>
            <a:pPr>
              <a:spcAft>
                <a:spcPts val="200"/>
              </a:spcAft>
              <a:defRPr sz="12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验收专家组一致通过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六、项目验收（续）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验收风险与应对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5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潜在风险：</a:t>
            </a:r>
          </a:p>
          <a:p>
            <a:pPr>
              <a:spcAft>
                <a:spcPts val="200"/>
              </a:spcAft>
              <a:defRPr sz="13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功能缺陷：小概率遗留bug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应对：建立快速响应机制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性能不达标：高并发场景压力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应对：提前优化，预留性能余量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用户培训不足：操作不熟练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应对：加强培训，提供现场支持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文档不完整：缺少部分文档</a:t>
            </a:r>
          </a:p>
          <a:p>
            <a:pPr lvl="1">
              <a:spcAft>
                <a:spcPts val="2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应对：文档检查清单，逐项确认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5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验收成功保障措施：</a:t>
            </a:r>
          </a:p>
          <a:p>
            <a:pPr>
              <a:spcAft>
                <a:spcPts val="200"/>
              </a:spcAft>
              <a:defRPr sz="13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建立验收倒计时机制</a:t>
            </a:r>
          </a:p>
          <a:p>
            <a:pPr>
              <a:spcAft>
                <a:spcPts val="200"/>
              </a:spcAft>
              <a:defRPr sz="13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每日验收准备进度同步</a:t>
            </a:r>
          </a:p>
          <a:p>
            <a:pPr>
              <a:spcAft>
                <a:spcPts val="200"/>
              </a:spcAft>
              <a:defRPr sz="13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专人负责验收协调工作</a:t>
            </a:r>
          </a:p>
          <a:p>
            <a:pPr>
              <a:spcAft>
                <a:spcPts val="200"/>
              </a:spcAft>
              <a:defRPr sz="13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预留充足的问题修复时间</a:t>
            </a:r>
          </a:p>
          <a:p>
            <a:pPr>
              <a:spcAft>
                <a:spcPts val="200"/>
              </a:spcAft>
              <a:defRPr sz="13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准备详细的演示方案</a:t>
            </a:r>
          </a:p>
          <a:p>
            <a:pPr>
              <a:spcAft>
                <a:spcPts val="200"/>
              </a:spcAft>
              <a:defRPr sz="1300">
                <a:solidFill>
                  <a:srgbClr val="008000"/>
                </a:solidFill>
                <a:latin typeface="WenQuanYi Zen Hei"/>
              </a:defRPr>
            </a:pPr>
            <a:r>
              <a:rPr>
                <a:latin typeface="WenQuanYi Zen Hei"/>
              </a:rPr>
              <a:t>✓ 提前与验收方充分沟通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项目总结与展望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项目成果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按期完成系统开发与测试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系统功能完整，性能稳定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团队协作顺畅，管理规范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文档资料完整，交付物齐全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5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项目亮点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采用先进技术架构，易于扩展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用户界面友好，操作便捷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系统性能优异，响应快速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安全机制完善，数据可靠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5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后续计划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顺利通过项目验收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稳定上线运行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持续优化改进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用户培训与支持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二期功能规划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</a:p>
          <a:p>
            <a:pPr>
              <a:spcAft>
                <a:spcPts val="200"/>
              </a:spcAft>
              <a:defRPr sz="15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致谢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感谢项目组全体成员的辛勤付出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感谢用户方的大力支持与配合</a:t>
            </a:r>
          </a:p>
          <a:p>
            <a:pPr>
              <a:spcAft>
                <a:spcPts val="2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感谢各级领导的关心与指导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8531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谢谢！</a:t>
            </a:r>
          </a:p>
          <a:p>
            <a:pPr algn="ctr">
              <a:defRPr sz="5600" b="1">
                <a:solidFill>
                  <a:srgbClr val="0046A0"/>
                </a:solidFill>
                <a:latin typeface="WenQuanYi Zen Hei"/>
              </a:defRPr>
            </a:pPr>
          </a:p>
          <a:p>
            <a:pPr algn="ctr">
              <a:defRPr sz="56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3756</Words>
  <Application>WPS 演示</Application>
  <PresentationFormat>宽屏</PresentationFormat>
  <Paragraphs>749</Paragraphs>
  <Slides>30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54" baseType="lpstr">
      <vt:lpstr>Arial</vt:lpstr>
      <vt:lpstr>宋体</vt:lpstr>
      <vt:lpstr>Wingdings</vt:lpstr>
      <vt:lpstr>微软雅黑</vt:lpstr>
      <vt:lpstr>汉仪旗黑</vt:lpstr>
      <vt:lpstr>Helvetica Light</vt:lpstr>
      <vt:lpstr>OPPOSans L</vt:lpstr>
      <vt:lpstr>苹方-简</vt:lpstr>
      <vt:lpstr>Heiti SC</vt:lpstr>
      <vt:lpstr>Source Han Sans CN Regular</vt:lpstr>
      <vt:lpstr>Open Sans Light</vt:lpstr>
      <vt:lpstr>Wingdings</vt:lpstr>
      <vt:lpstr>等线 Light</vt:lpstr>
      <vt:lpstr>Calibri</vt:lpstr>
      <vt:lpstr>汉仪中等线KW</vt:lpstr>
      <vt:lpstr>Calibri</vt:lpstr>
      <vt:lpstr>微软雅黑</vt:lpstr>
      <vt:lpstr>Helvetica Neue</vt:lpstr>
      <vt:lpstr>等线</vt:lpstr>
      <vt:lpstr>宋体</vt:lpstr>
      <vt:lpstr>Arial Unicode MS</vt:lpstr>
      <vt:lpstr>汉仪书宋二KW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天然 陈</dc:creator>
  <cp:lastModifiedBy>WPS_1641772744</cp:lastModifiedBy>
  <cp:revision>460</cp:revision>
  <dcterms:created xsi:type="dcterms:W3CDTF">2023-07-10T03:24:52Z</dcterms:created>
  <dcterms:modified xsi:type="dcterms:W3CDTF">2023-07-10T03:24:52Z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2018227152E45DE6F0898964DA8B9C29_42</vt:lpwstr>
  </property>
  <property fmtid="{D5CDD505-2E9C-101B-9397-08002B2CF9AE}" pid="3" name="KSOProductBuildVer">
    <vt:lpwstr>2052-5.4.1.7920</vt:lpwstr>
  </property>
</Properties>
</file>