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非雪季系统培训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西山俱乐部管理系统</a:t>
            </a:r>
          </a:p>
          <a:p/>
          <a:p>
            <a:r>
              <a:t>系统版本：V1.0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培训内容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一、系统登录与主界面</a:t>
            </a:r>
          </a:p>
          <a:p>
            <a:pPr>
              <a:defRPr sz="2000"/>
            </a:pPr>
            <a:r>
              <a:t>二、核心功能模块</a:t>
            </a:r>
          </a:p>
          <a:p>
            <a:pPr lvl="1">
              <a:defRPr sz="1800"/>
            </a:pPr>
            <a:r>
              <a:t>  • 活动管理 - 活动发布、套票管理</a:t>
            </a:r>
          </a:p>
          <a:p>
            <a:pPr lvl="1">
              <a:defRPr sz="1800"/>
            </a:pPr>
            <a:r>
              <a:t>  • 用户管理 - 用户信息、员工管理</a:t>
            </a:r>
          </a:p>
          <a:p>
            <a:pPr lvl="1">
              <a:defRPr sz="1800"/>
            </a:pPr>
            <a:r>
              <a:t>  • 场地管理 - 场地预订、订单处理</a:t>
            </a:r>
          </a:p>
          <a:p>
            <a:pPr lvl="1">
              <a:defRPr sz="1800"/>
            </a:pPr>
            <a:r>
              <a:t>  • 财务管理 - 商户结算、财务报表</a:t>
            </a:r>
          </a:p>
          <a:p>
            <a:pPr lvl="1">
              <a:defRPr sz="1800"/>
            </a:pPr>
            <a:r>
              <a:t>  • 营销管理 - Banner、优惠券</a:t>
            </a:r>
          </a:p>
          <a:p>
            <a:pPr lvl="1">
              <a:defRPr sz="1800"/>
            </a:pPr>
            <a:r>
              <a:t>  • 积分管理 - 规则设置、积分商城</a:t>
            </a:r>
          </a:p>
          <a:p>
            <a:pPr lvl="1">
              <a:defRPr sz="1800"/>
            </a:pPr>
            <a:r>
              <a:t>  • 数据分析 - 销售统计</a:t>
            </a:r>
          </a:p>
          <a:p>
            <a:pPr>
              <a:defRPr sz="2000"/>
            </a:pPr>
            <a:r>
              <a:t>三、操作技巧与常见问题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系统登录</a:t>
            </a:r>
          </a:p>
        </p:txBody>
      </p:sp>
      <p:pic>
        <p:nvPicPr>
          <p:cNvPr id="4" name="Picture 3" descr="01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输入用户名和密码登录系统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系统主界面</a:t>
            </a:r>
          </a:p>
        </p:txBody>
      </p:sp>
      <p:pic>
        <p:nvPicPr>
          <p:cNvPr id="4" name="Picture 3" descr="02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左侧菜单导航，右侧工作区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功能示例 - 用户管理</a:t>
            </a:r>
          </a:p>
        </p:txBody>
      </p:sp>
      <p:pic>
        <p:nvPicPr>
          <p:cNvPr id="4" name="Picture 3" descr="07_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12800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2179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查看用户列表，进行用户管理操作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核心功能模块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活动管理</a:t>
            </a:r>
          </a:p>
          <a:p>
            <a:pPr lvl="1">
              <a:defRPr sz="1800"/>
            </a:pPr>
            <a:r>
              <a:t>  • 发布活动、管理报名</a:t>
            </a:r>
          </a:p>
          <a:p>
            <a:pPr lvl="1">
              <a:defRPr sz="1800"/>
            </a:pPr>
            <a:r>
              <a:t>  • 创建和管理套票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用户管理</a:t>
            </a:r>
          </a:p>
          <a:p>
            <a:pPr lvl="1">
              <a:defRPr sz="1800"/>
            </a:pPr>
            <a:r>
              <a:t>  • 普通用户：信息查询、订单管理</a:t>
            </a:r>
          </a:p>
          <a:p>
            <a:pPr lvl="1">
              <a:defRPr sz="1800"/>
            </a:pPr>
            <a:r>
              <a:t>  • 员工管理：账号创建、权限分配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场地管理</a:t>
            </a:r>
          </a:p>
          <a:p>
            <a:pPr lvl="1">
              <a:defRPr sz="1800"/>
            </a:pPr>
            <a:r>
              <a:t>  • 场地资源配置</a:t>
            </a:r>
          </a:p>
          <a:p>
            <a:pPr lvl="1">
              <a:defRPr sz="1800"/>
            </a:pPr>
            <a:r>
              <a:t>  • 预订订单处理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其他功能</a:t>
            </a:r>
          </a:p>
          <a:p>
            <a:pPr lvl="1">
              <a:defRPr sz="1800"/>
            </a:pPr>
            <a:r>
              <a:t>  • 财务结算审核</a:t>
            </a:r>
          </a:p>
          <a:p>
            <a:pPr lvl="1">
              <a:defRPr sz="1800"/>
            </a:pPr>
            <a:r>
              <a:t>  • 营销活动配置</a:t>
            </a:r>
          </a:p>
          <a:p>
            <a:pPr lvl="1">
              <a:defRPr sz="1800"/>
            </a:pPr>
            <a:r>
              <a:t>  • 积分规则设置</a:t>
            </a:r>
          </a:p>
          <a:p>
            <a:pPr lvl="1">
              <a:defRPr sz="1800"/>
            </a:pPr>
            <a:r>
              <a:t>  • 数据统计分析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操作技巧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查询技巧</a:t>
            </a:r>
          </a:p>
          <a:p>
            <a:pPr lvl="1">
              <a:defRPr sz="1800"/>
            </a:pPr>
            <a:r>
              <a:t>  • 支持模糊查询（姓名、手机号）</a:t>
            </a:r>
          </a:p>
          <a:p>
            <a:pPr lvl="1">
              <a:defRPr sz="1800"/>
            </a:pPr>
            <a:r>
              <a:t>  • 使用时间范围筛选</a:t>
            </a:r>
          </a:p>
          <a:p>
            <a:pPr lvl="1">
              <a:defRPr sz="1800"/>
            </a:pPr>
            <a:r>
              <a:t>  • 组合多个条件精确查询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快捷操作</a:t>
            </a:r>
          </a:p>
          <a:p>
            <a:pPr lvl="1">
              <a:defRPr sz="1800"/>
            </a:pPr>
            <a:r>
              <a:t>  • Ctrl+S 保存</a:t>
            </a:r>
          </a:p>
          <a:p>
            <a:pPr lvl="1">
              <a:defRPr sz="1800"/>
            </a:pPr>
            <a:r>
              <a:t>  • Ctrl+F 搜索</a:t>
            </a:r>
          </a:p>
          <a:p>
            <a:pPr lvl="1">
              <a:defRPr sz="1800"/>
            </a:pPr>
            <a:r>
              <a:t>  • F5 刷新</a:t>
            </a:r>
          </a:p>
          <a:p>
            <a:pPr lvl="1">
              <a:defRPr sz="1800"/>
            </a:pPr>
            <a:r>
              <a:t>  • Esc 关闭弹窗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数据导出</a:t>
            </a:r>
          </a:p>
          <a:p>
            <a:pPr lvl="1">
              <a:defRPr sz="1800"/>
            </a:pPr>
            <a:r>
              <a:t>  • 设置筛选条件</a:t>
            </a:r>
          </a:p>
          <a:p>
            <a:pPr lvl="1">
              <a:defRPr sz="1800"/>
            </a:pPr>
            <a:r>
              <a:t>  • 点击导出按钮</a:t>
            </a:r>
          </a:p>
          <a:p>
            <a:pPr lvl="1">
              <a:defRPr sz="1800"/>
            </a:pPr>
            <a:r>
              <a:t>  • 选择导出格式（Excel/PDF）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常见问题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Q：忘记密码怎么办？</a:t>
            </a:r>
          </a:p>
          <a:p>
            <a:pPr>
              <a:defRPr sz="2000"/>
            </a:pPr>
            <a:r>
              <a:t>A：联系系统管理员重置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Q：为什么看不到某些菜单？</a:t>
            </a:r>
          </a:p>
          <a:p>
            <a:pPr>
              <a:defRPr sz="2000"/>
            </a:pPr>
            <a:r>
              <a:t>A：检查账号权限，联系管理员分配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Q：数据保存失败？</a:t>
            </a:r>
          </a:p>
          <a:p>
            <a:pPr>
              <a:defRPr sz="2000"/>
            </a:pPr>
            <a:r>
              <a:t>A：检查必填项、数据格式、网络连接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Q：页面显示异常？</a:t>
            </a:r>
          </a:p>
          <a:p>
            <a:pPr>
              <a:defRPr sz="2000"/>
            </a:pPr>
            <a:r>
              <a:t>A：刷新页面(F5)、清除缓存、使用Chrome浏览器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注意事项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t>安全规范</a:t>
            </a:r>
          </a:p>
          <a:p>
            <a:pPr lvl="1">
              <a:defRPr sz="1800"/>
            </a:pPr>
            <a:r>
              <a:t>  ✓ 定期修改密码</a:t>
            </a:r>
          </a:p>
          <a:p>
            <a:pPr lvl="1">
              <a:defRPr sz="1800"/>
            </a:pPr>
            <a:r>
              <a:t>  ✓ 不要泄露账号信息</a:t>
            </a:r>
          </a:p>
          <a:p>
            <a:pPr lvl="1">
              <a:defRPr sz="1800"/>
            </a:pPr>
            <a:r>
              <a:t>  ✓ 使用后及时退出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操作规范</a:t>
            </a:r>
          </a:p>
          <a:p>
            <a:pPr lvl="1">
              <a:defRPr sz="1800"/>
            </a:pPr>
            <a:r>
              <a:t>  ✓ 重要操作前仔细核对</a:t>
            </a:r>
          </a:p>
          <a:p>
            <a:pPr lvl="1">
              <a:defRPr sz="1800"/>
            </a:pPr>
            <a:r>
              <a:t>  ✓ 定期备份重要数据</a:t>
            </a:r>
          </a:p>
          <a:p>
            <a:pPr lvl="1">
              <a:defRPr sz="1800"/>
            </a:pPr>
            <a:r>
              <a:t>  ✓ 发现异常及时报告</a:t>
            </a:r>
          </a:p>
          <a:p>
            <a:pPr>
              <a:defRPr sz="2000"/>
            </a:pPr>
          </a:p>
          <a:p>
            <a:pPr>
              <a:defRPr sz="2000"/>
            </a:pPr>
            <a:r>
              <a:t>联系方式</a:t>
            </a:r>
          </a:p>
          <a:p>
            <a:pPr lvl="1">
              <a:defRPr sz="1800"/>
            </a:pPr>
            <a:r>
              <a:t>  技术支持：400-xxx-xxxx</a:t>
            </a:r>
          </a:p>
          <a:p>
            <a:pPr lvl="1">
              <a:defRPr sz="1800"/>
            </a:pPr>
            <a:r>
              <a:t>  工作时间：周一至周日 9:00-18:00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/>
            </a:pPr>
            <a:r>
              <a:t>谢谢！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/>
            </a:pPr>
            <a:r>
              <a:t>祝您工作顺利！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