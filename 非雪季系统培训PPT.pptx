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 b="1"/>
            </a:pPr>
            <a:r>
              <a:t>非雪季系统培训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/>
            </a:pPr>
            <a:r>
              <a:t>西山俱乐部管理系统</a:t>
            </a:r>
          </a:p>
          <a:p/>
          <a:p>
            <a:r>
              <a:t>系统版本：V1.0</a:t>
            </a:r>
          </a:p>
          <a:p>
            <a:r>
              <a:t>培训日期：2025年11月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培训目标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✓ 掌握系统基本操作</a:t>
            </a:r>
          </a:p>
          <a:p>
            <a:pPr>
              <a:defRPr sz="2000"/>
            </a:pPr>
            <a:r>
              <a:t>✓ 熟悉各功能模块</a:t>
            </a:r>
          </a:p>
          <a:p>
            <a:pPr>
              <a:defRPr sz="2000"/>
            </a:pPr>
            <a:r>
              <a:t>✓ 了解业务流程</a:t>
            </a:r>
          </a:p>
          <a:p>
            <a:pPr>
              <a:defRPr sz="2000"/>
            </a:pPr>
            <a:r>
              <a:t>✓ 能够独立完成日常工作</a:t>
            </a:r>
          </a:p>
          <a:p>
            <a:pPr>
              <a:defRPr sz="2000"/>
            </a:pPr>
            <a:r>
              <a:t>✓ 掌握常见问题处理方法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课程大纲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第一部分：系统登录与主界面</a:t>
            </a:r>
          </a:p>
          <a:p>
            <a:pPr>
              <a:defRPr sz="2000"/>
            </a:pPr>
            <a:r>
              <a:t>第二部分：核心功能模块</a:t>
            </a:r>
          </a:p>
          <a:p>
            <a:pPr lvl="1">
              <a:defRPr sz="1800"/>
            </a:pPr>
            <a:r>
              <a:t>  • 活动管理</a:t>
            </a:r>
          </a:p>
          <a:p>
            <a:pPr lvl="1">
              <a:defRPr sz="1800"/>
            </a:pPr>
            <a:r>
              <a:t>  • 用户管理</a:t>
            </a:r>
          </a:p>
          <a:p>
            <a:pPr lvl="1">
              <a:defRPr sz="1800"/>
            </a:pPr>
            <a:r>
              <a:t>  • 场地管理</a:t>
            </a:r>
          </a:p>
          <a:p>
            <a:pPr lvl="1">
              <a:defRPr sz="1800"/>
            </a:pPr>
            <a:r>
              <a:t>  • 财务管理</a:t>
            </a:r>
          </a:p>
          <a:p>
            <a:pPr lvl="1">
              <a:defRPr sz="1800"/>
            </a:pPr>
            <a:r>
              <a:t>  • 营销管理</a:t>
            </a:r>
          </a:p>
          <a:p>
            <a:pPr lvl="1">
              <a:defRPr sz="1800"/>
            </a:pPr>
            <a:r>
              <a:t>  • 积分管理</a:t>
            </a:r>
          </a:p>
          <a:p>
            <a:pPr lvl="1">
              <a:defRPr sz="1800"/>
            </a:pPr>
            <a:r>
              <a:t>  • 数据分析</a:t>
            </a:r>
          </a:p>
          <a:p>
            <a:pPr>
              <a:defRPr sz="2000"/>
            </a:pPr>
            <a:r>
              <a:t>第三部分：常见问题与技巧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一、系统登录</a:t>
            </a:r>
          </a:p>
        </p:txBody>
      </p:sp>
      <p:pic>
        <p:nvPicPr>
          <p:cNvPr id="4" name="Picture 3" descr="01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12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访问系统地址，输入用户名和密码登录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系统主界面</a:t>
            </a:r>
          </a:p>
        </p:txBody>
      </p:sp>
      <p:pic>
        <p:nvPicPr>
          <p:cNvPr id="4" name="Picture 3" descr="02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12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左侧菜单栏导航，右侧工作区显示内容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二、核心功能模块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1. 活动管理</a:t>
            </a:r>
          </a:p>
          <a:p>
            <a:pPr lvl="1">
              <a:defRPr sz="1800"/>
            </a:pPr>
            <a:r>
              <a:t>   • 活动列表：发布、编辑、管理活动</a:t>
            </a:r>
          </a:p>
          <a:p>
            <a:pPr lvl="1">
              <a:defRPr sz="1800"/>
            </a:pPr>
            <a:r>
              <a:t>   • 套票列表：管理组合套票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2. 用户管理</a:t>
            </a:r>
          </a:p>
          <a:p>
            <a:pPr lvl="1">
              <a:defRPr sz="1800"/>
            </a:pPr>
            <a:r>
              <a:t>   • 普通用户：用户信息、订单查询</a:t>
            </a:r>
          </a:p>
          <a:p>
            <a:pPr lvl="1">
              <a:defRPr sz="1800"/>
            </a:pPr>
            <a:r>
              <a:t>   • 员工管理：账号管理、权限分配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3. 场地管理</a:t>
            </a:r>
          </a:p>
          <a:p>
            <a:pPr lvl="1">
              <a:defRPr sz="1800"/>
            </a:pPr>
            <a:r>
              <a:t>   • 场地列表：场地信息配置</a:t>
            </a:r>
          </a:p>
          <a:p>
            <a:pPr lvl="1">
              <a:defRPr sz="1800"/>
            </a:pPr>
            <a:r>
              <a:t>   • 场地订单：预订处理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活动管理</a:t>
            </a:r>
          </a:p>
        </p:txBody>
      </p:sp>
      <p:pic>
        <p:nvPicPr>
          <p:cNvPr id="4" name="Picture 3" descr="03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12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管理活动和套票，查询、新增、编辑、删除操作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用户管理</a:t>
            </a:r>
          </a:p>
        </p:txBody>
      </p:sp>
      <p:pic>
        <p:nvPicPr>
          <p:cNvPr id="4" name="Picture 3" descr="04_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12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查看用户信息，管理用户状态和订单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三、其他功能模块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4. 财务管理</a:t>
            </a:r>
          </a:p>
          <a:p>
            <a:pPr lvl="1">
              <a:defRPr sz="1800"/>
            </a:pPr>
            <a:r>
              <a:t>   • 商户结算审核</a:t>
            </a:r>
          </a:p>
          <a:p>
            <a:pPr lvl="1">
              <a:defRPr sz="1800"/>
            </a:pPr>
            <a:r>
              <a:t>   • 财务报表查看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5. 营销管理</a:t>
            </a:r>
          </a:p>
          <a:p>
            <a:pPr lvl="1">
              <a:defRPr sz="1800"/>
            </a:pPr>
            <a:r>
              <a:t>   • Banner配置：首页轮播图</a:t>
            </a:r>
          </a:p>
          <a:p>
            <a:pPr lvl="1">
              <a:defRPr sz="1800"/>
            </a:pPr>
            <a:r>
              <a:t>   • 优惠券发放：优惠活动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6. 积分管理</a:t>
            </a:r>
          </a:p>
          <a:p>
            <a:pPr lvl="1">
              <a:defRPr sz="1800"/>
            </a:pPr>
            <a:r>
              <a:t>   • 积分规则设置</a:t>
            </a:r>
          </a:p>
          <a:p>
            <a:pPr lvl="1">
              <a:defRPr sz="1800"/>
            </a:pPr>
            <a:r>
              <a:t>   • 积分商城管理</a:t>
            </a:r>
          </a:p>
          <a:p>
            <a:pPr lvl="1">
              <a:defRPr sz="1800"/>
            </a:pPr>
            <a:r>
              <a:t>   • 积分订单处理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营销管理 - Banner配置</a:t>
            </a:r>
          </a:p>
        </p:txBody>
      </p:sp>
      <p:pic>
        <p:nvPicPr>
          <p:cNvPr id="4" name="Picture 3" descr="06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12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配置小程序首页轮播图，设置跳转链接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数据分析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7. 数据分析功能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销售统计</a:t>
            </a:r>
          </a:p>
          <a:p>
            <a:pPr lvl="1">
              <a:defRPr sz="1800"/>
            </a:pPr>
            <a:r>
              <a:t>  • 查看关键指标：销售额、订单数、客单价</a:t>
            </a:r>
          </a:p>
          <a:p>
            <a:pPr lvl="1">
              <a:defRPr sz="1800"/>
            </a:pPr>
            <a:r>
              <a:t>  • 分析销售趋势</a:t>
            </a:r>
          </a:p>
          <a:p>
            <a:pPr lvl="1">
              <a:defRPr sz="1800"/>
            </a:pPr>
            <a:r>
              <a:t>  • 品类占比分析</a:t>
            </a:r>
          </a:p>
          <a:p>
            <a:pPr lvl="1">
              <a:defRPr sz="1800"/>
            </a:pPr>
            <a:r>
              <a:t>  • 导出统计报表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用途：辅助经营决策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销售统计页面</a:t>
            </a:r>
          </a:p>
        </p:txBody>
      </p:sp>
      <p:pic>
        <p:nvPicPr>
          <p:cNvPr id="4" name="Picture 3" descr="07_stati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12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查看销售数据，分析经营状况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四、操作技巧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快捷操作</a:t>
            </a:r>
          </a:p>
          <a:p>
            <a:pPr lvl="1">
              <a:defRPr sz="1800"/>
            </a:pPr>
            <a:r>
              <a:t>  • Ctrl + S：快速保存</a:t>
            </a:r>
          </a:p>
          <a:p>
            <a:pPr lvl="1">
              <a:defRPr sz="1800"/>
            </a:pPr>
            <a:r>
              <a:t>  • Ctrl + F：打开搜索</a:t>
            </a:r>
          </a:p>
          <a:p>
            <a:pPr lvl="1">
              <a:defRPr sz="1800"/>
            </a:pPr>
            <a:r>
              <a:t>  • F5：刷新页面</a:t>
            </a:r>
          </a:p>
          <a:p>
            <a:pPr lvl="1">
              <a:defRPr sz="1800"/>
            </a:pPr>
            <a:r>
              <a:t>  • Esc：关闭弹窗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查询技巧</a:t>
            </a:r>
          </a:p>
          <a:p>
            <a:pPr lvl="1">
              <a:defRPr sz="1800"/>
            </a:pPr>
            <a:r>
              <a:t>  • 支持模糊查询（姓名、手机号）</a:t>
            </a:r>
          </a:p>
          <a:p>
            <a:pPr lvl="1">
              <a:defRPr sz="1800"/>
            </a:pPr>
            <a:r>
              <a:t>  • 使用时间范围筛选</a:t>
            </a:r>
          </a:p>
          <a:p>
            <a:pPr lvl="1">
              <a:defRPr sz="1800"/>
            </a:pPr>
            <a:r>
              <a:t>  • 组合多个条件精确查询</a:t>
            </a:r>
          </a:p>
          <a:p>
            <a:pPr lvl="1">
              <a:defRPr sz="1800"/>
            </a:pPr>
            <a:r>
              <a:t>  • 导出筛选后的数据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五、常见问题 - 登录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Q：忘记密码怎么办？</a:t>
            </a:r>
          </a:p>
          <a:p>
            <a:pPr>
              <a:defRPr sz="2000"/>
            </a:pPr>
            <a:r>
              <a:t>A：联系系统管理员重置密码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Q：为什么自动退出？</a:t>
            </a:r>
          </a:p>
          <a:p>
            <a:pPr>
              <a:defRPr sz="2000"/>
            </a:pPr>
            <a:r>
              <a:t>A：30分钟无操作会自动退出，重新登录即可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Q：看不到某些菜单？</a:t>
            </a:r>
          </a:p>
          <a:p>
            <a:pPr>
              <a:defRPr sz="2000"/>
            </a:pPr>
            <a:r>
              <a:t>A：检查账号权限，联系管理员分配权限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Q：提示账号已在其他地方登录？</a:t>
            </a:r>
          </a:p>
          <a:p>
            <a:pPr>
              <a:defRPr sz="2000"/>
            </a:pPr>
            <a:r>
              <a:t>A：同一账号不能同时登录，立即修改密码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常见问题 - 操作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Q：数据保存失败？</a:t>
            </a:r>
          </a:p>
          <a:p>
            <a:pPr>
              <a:defRPr sz="2000"/>
            </a:pPr>
            <a:r>
              <a:t>A：检查必填项、数据格式、网络连接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Q：图片上传失败？</a:t>
            </a:r>
          </a:p>
          <a:p>
            <a:pPr>
              <a:defRPr sz="2000"/>
            </a:pPr>
            <a:r>
              <a:t>A：确保图片&lt;2MB，格式为jpg/png/gif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Q：页面显示异常？</a:t>
            </a:r>
          </a:p>
          <a:p>
            <a:pPr>
              <a:defRPr sz="2000"/>
            </a:pPr>
            <a:r>
              <a:t>A：刷新页面(F5)、清除缓存、使用Chrome浏览器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Q：数据统计不准确？</a:t>
            </a:r>
          </a:p>
          <a:p>
            <a:pPr>
              <a:defRPr sz="2000"/>
            </a:pPr>
            <a:r>
              <a:t>A：检查时间范围、筛选条件，数据延迟5分钟内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六、注意事项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安全规范</a:t>
            </a:r>
          </a:p>
          <a:p>
            <a:pPr lvl="1">
              <a:defRPr sz="1800"/>
            </a:pPr>
            <a:r>
              <a:t>  ✓ 定期修改密码（建议3个月一次）</a:t>
            </a:r>
          </a:p>
          <a:p>
            <a:pPr lvl="1">
              <a:defRPr sz="1800"/>
            </a:pPr>
            <a:r>
              <a:t>  ✓ 不要将账号密码告知他人</a:t>
            </a:r>
          </a:p>
          <a:p>
            <a:pPr lvl="1">
              <a:defRPr sz="1800"/>
            </a:pPr>
            <a:r>
              <a:t>  ✓ 使用后及时退出系统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操作规范</a:t>
            </a:r>
          </a:p>
          <a:p>
            <a:pPr lvl="1">
              <a:defRPr sz="1800"/>
            </a:pPr>
            <a:r>
              <a:t>  ✓ 重要操作前仔细核对信息</a:t>
            </a:r>
          </a:p>
          <a:p>
            <a:pPr lvl="1">
              <a:defRPr sz="1800"/>
            </a:pPr>
            <a:r>
              <a:t>  ✓ 定期备份重要数据</a:t>
            </a:r>
          </a:p>
          <a:p>
            <a:pPr lvl="1">
              <a:defRPr sz="1800"/>
            </a:pPr>
            <a:r>
              <a:t>  ✓ 发现异常及时报告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数据规范</a:t>
            </a:r>
          </a:p>
          <a:p>
            <a:pPr lvl="1">
              <a:defRPr sz="1800"/>
            </a:pPr>
            <a:r>
              <a:t>  ✓ 准确录入数据</a:t>
            </a:r>
          </a:p>
          <a:p>
            <a:pPr lvl="1">
              <a:defRPr sz="1800"/>
            </a:pPr>
            <a:r>
              <a:t>  ✓ 保护用户隐私</a:t>
            </a:r>
          </a:p>
          <a:p>
            <a:pPr lvl="1">
              <a:defRPr sz="1800"/>
            </a:pPr>
            <a:r>
              <a:t>  ✓ 不随意删除历史数据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联系方式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技术支持</a:t>
            </a:r>
          </a:p>
          <a:p>
            <a:pPr lvl="1">
              <a:defRPr sz="1800"/>
            </a:pPr>
            <a:r>
              <a:t>  电话：400-xxx-xxxx</a:t>
            </a:r>
          </a:p>
          <a:p>
            <a:pPr lvl="1">
              <a:defRPr sz="1800"/>
            </a:pPr>
            <a:r>
              <a:t>  邮箱：support@bjstarfish.com</a:t>
            </a:r>
          </a:p>
          <a:p>
            <a:pPr lvl="1">
              <a:defRPr sz="1800"/>
            </a:pPr>
            <a:r>
              <a:t>  工作时间：周一至周日 9:00-18:00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运营团队</a:t>
            </a:r>
          </a:p>
          <a:p>
            <a:pPr lvl="1">
              <a:defRPr sz="1800"/>
            </a:pPr>
            <a:r>
              <a:t>  电话：010-xxxx-xxxx</a:t>
            </a:r>
          </a:p>
          <a:p>
            <a:pPr lvl="1">
              <a:defRPr sz="1800"/>
            </a:pPr>
            <a:r>
              <a:t>  邮箱：operation@bjstarfish.com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紧急情况请直接拨打客服电话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培训考核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考核方式</a:t>
            </a:r>
          </a:p>
          <a:p>
            <a:pPr lvl="1">
              <a:defRPr sz="1800"/>
            </a:pPr>
            <a:r>
              <a:t>  • 理论考试（占40%）</a:t>
            </a:r>
          </a:p>
          <a:p>
            <a:pPr lvl="1">
              <a:defRPr sz="1800"/>
            </a:pPr>
            <a:r>
              <a:t>  • 实际操作（占60%）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考核内容</a:t>
            </a:r>
          </a:p>
          <a:p>
            <a:pPr lvl="1">
              <a:defRPr sz="1800"/>
            </a:pPr>
            <a:r>
              <a:t>  • 系统基本操作</a:t>
            </a:r>
          </a:p>
          <a:p>
            <a:pPr lvl="1">
              <a:defRPr sz="1800"/>
            </a:pPr>
            <a:r>
              <a:t>  • 业务流程处理</a:t>
            </a:r>
          </a:p>
          <a:p>
            <a:pPr lvl="1">
              <a:defRPr sz="1800"/>
            </a:pPr>
            <a:r>
              <a:t>  • 问题处理能力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合格标准</a:t>
            </a:r>
          </a:p>
          <a:p>
            <a:pPr lvl="1">
              <a:defRPr sz="1800"/>
            </a:pPr>
            <a:r>
              <a:t>  • 总分≥80分：合格</a:t>
            </a:r>
          </a:p>
          <a:p>
            <a:pPr lvl="1">
              <a:defRPr sz="1800"/>
            </a:pPr>
            <a:r>
              <a:t>  • 总分≥90分：优秀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 b="1"/>
            </a:pPr>
            <a:r>
              <a:t>谢谢！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/>
            </a:pPr>
            <a:r>
              <a:t>祝您工作顺利！</a:t>
            </a:r>
          </a:p>
          <a:p/>
          <a:p>
            <a:r>
              <a:t>如有疑问，请随时联系我们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