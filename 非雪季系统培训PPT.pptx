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/>
            </a:pPr>
            <a:r>
              <a:t>非雪季系统培训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/>
            </a:pPr>
            <a:r>
              <a:t>西山俱乐部管理系统</a:t>
            </a:r>
          </a:p>
          <a:p/>
          <a:p>
            <a:r>
              <a:t>系统版本：V1.0</a:t>
            </a:r>
          </a:p>
          <a:p>
            <a:r>
              <a:t>培训日期：2025年11月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课程大纲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系统概述</a:t>
            </a:r>
          </a:p>
          <a:p>
            <a:pPr>
              <a:defRPr sz="2000"/>
            </a:pPr>
            <a:r>
              <a:t>2. 系统登录</a:t>
            </a:r>
          </a:p>
          <a:p>
            <a:pPr>
              <a:defRPr sz="2000"/>
            </a:pPr>
            <a:r>
              <a:t>3. 活动管理</a:t>
            </a:r>
          </a:p>
          <a:p>
            <a:pPr>
              <a:defRPr sz="2000"/>
            </a:pPr>
            <a:r>
              <a:t>4. 用户管理</a:t>
            </a:r>
          </a:p>
          <a:p>
            <a:pPr>
              <a:defRPr sz="2000"/>
            </a:pPr>
            <a:r>
              <a:t>5. 场地管理</a:t>
            </a:r>
          </a:p>
          <a:p>
            <a:pPr>
              <a:defRPr sz="2000"/>
            </a:pPr>
            <a:r>
              <a:t>6. 财务管理</a:t>
            </a:r>
          </a:p>
          <a:p>
            <a:pPr>
              <a:defRPr sz="2000"/>
            </a:pPr>
            <a:r>
              <a:t>7. 营销管理</a:t>
            </a:r>
          </a:p>
          <a:p>
            <a:pPr>
              <a:defRPr sz="2000"/>
            </a:pPr>
            <a:r>
              <a:t>8. 积分管理</a:t>
            </a:r>
          </a:p>
          <a:p>
            <a:pPr>
              <a:defRPr sz="2000"/>
            </a:pPr>
            <a:r>
              <a:t>9. 数据分析</a:t>
            </a:r>
          </a:p>
          <a:p>
            <a:pPr>
              <a:defRPr sz="2000"/>
            </a:pPr>
            <a:r>
              <a:t>10. 常见问题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一、系统概述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• 系统功能全面：涵盖活动、场地、财务、营销等全业务流程</a:t>
            </a:r>
          </a:p>
          <a:p>
            <a:pPr>
              <a:defRPr sz="2000"/>
            </a:pPr>
            <a:r>
              <a:t>• 操作简便直观：界面友好，流程清晰</a:t>
            </a:r>
          </a:p>
          <a:p>
            <a:pPr>
              <a:defRPr sz="2000"/>
            </a:pPr>
            <a:r>
              <a:t>• 数据实时同步：支持即时查询和统计</a:t>
            </a:r>
          </a:p>
          <a:p>
            <a:pPr>
              <a:defRPr sz="2000"/>
            </a:pPr>
            <a:r>
              <a:t>• 安全可靠：多重认证，数据加密</a:t>
            </a:r>
          </a:p>
          <a:p>
            <a:pPr>
              <a:defRPr sz="2000"/>
            </a:pPr>
            <a:r>
              <a:t>• 多端支持：PC端管理 + 移动端小程序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系统功能模块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活动管理 - 活动发布、报名管理、套票管理</a:t>
            </a:r>
          </a:p>
          <a:p>
            <a:pPr>
              <a:defRPr sz="2000"/>
            </a:pPr>
            <a:r>
              <a:t>用户管理 - 用户信息、订单查询、员工管理</a:t>
            </a:r>
          </a:p>
          <a:p>
            <a:pPr>
              <a:defRPr sz="2000"/>
            </a:pPr>
            <a:r>
              <a:t>场地管理 - 场地预订、订单管理、预定看板</a:t>
            </a:r>
          </a:p>
          <a:p>
            <a:pPr>
              <a:defRPr sz="2000"/>
            </a:pPr>
            <a:r>
              <a:t>财务管理 - 商户结算、财务报表、审核管理</a:t>
            </a:r>
          </a:p>
          <a:p>
            <a:pPr>
              <a:defRPr sz="2000"/>
            </a:pPr>
            <a:r>
              <a:t>营销管理 - Banner配置、优惠券发放</a:t>
            </a:r>
          </a:p>
          <a:p>
            <a:pPr>
              <a:defRPr sz="2000"/>
            </a:pPr>
            <a:r>
              <a:t>积分管理 - 积分规则、积分商城、订单管理</a:t>
            </a:r>
          </a:p>
          <a:p>
            <a:pPr>
              <a:defRPr sz="2000"/>
            </a:pPr>
            <a:r>
              <a:t>数据分析 - 销售统计、数据报表</a:t>
            </a:r>
          </a:p>
          <a:p>
            <a:pPr>
              <a:defRPr sz="2000"/>
            </a:pPr>
            <a:r>
              <a:t>系统设置 - 系统日志、小游戏配置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二、系统登录</a:t>
            </a:r>
          </a:p>
        </p:txBody>
      </p:sp>
      <p:pic>
        <p:nvPicPr>
          <p:cNvPr id="4" name="Picture 3" descr="01_login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输入用户名和密码，点击登录按钮进入系统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系统主界面</a:t>
            </a:r>
          </a:p>
        </p:txBody>
      </p:sp>
      <p:pic>
        <p:nvPicPr>
          <p:cNvPr id="4" name="Picture 3" descr="09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左侧为功能菜单，右侧为工作区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三、活动管理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活动列表</a:t>
            </a:r>
          </a:p>
          <a:p>
            <a:pPr lvl="1">
              <a:defRPr sz="1800"/>
            </a:pPr>
            <a:r>
              <a:t>  - 查看所有发布的活动</a:t>
            </a:r>
          </a:p>
          <a:p>
            <a:pPr lvl="1">
              <a:defRPr sz="1800"/>
            </a:pPr>
            <a:r>
              <a:t>  - 新增、编辑、删除活动</a:t>
            </a:r>
          </a:p>
          <a:p>
            <a:pPr lvl="1">
              <a:defRPr sz="1800"/>
            </a:pPr>
            <a:r>
              <a:t>  - 活动上下架管理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套票列表</a:t>
            </a:r>
          </a:p>
          <a:p>
            <a:pPr lvl="1">
              <a:defRPr sz="1800"/>
            </a:pPr>
            <a:r>
              <a:t>  - 管理"雪票+服务"组合套票</a:t>
            </a:r>
          </a:p>
          <a:p>
            <a:pPr lvl="1">
              <a:defRPr sz="1800"/>
            </a:pPr>
            <a:r>
              <a:t>  - 配置套票价格和内容</a:t>
            </a:r>
          </a:p>
          <a:p>
            <a:pPr lvl="1">
              <a:defRPr sz="1800"/>
            </a:pPr>
            <a:r>
              <a:t>  - 查看套票销售情况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活动列表页面</a:t>
            </a:r>
          </a:p>
        </p:txBody>
      </p:sp>
      <p:pic>
        <p:nvPicPr>
          <p:cNvPr id="4" name="Picture 3" descr="10_activity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可以查询、新增、编辑活动，管理活动状态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套票列表页面</a:t>
            </a:r>
          </a:p>
        </p:txBody>
      </p:sp>
      <p:pic>
        <p:nvPicPr>
          <p:cNvPr id="4" name="Picture 3" descr="12_packag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管理套票信息、价格和销售状态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四、用户管理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普通用户</a:t>
            </a:r>
          </a:p>
          <a:p>
            <a:pPr lvl="1">
              <a:defRPr sz="1800"/>
            </a:pPr>
            <a:r>
              <a:t>  - 查看和管理游客信息</a:t>
            </a:r>
          </a:p>
          <a:p>
            <a:pPr lvl="1">
              <a:defRPr sz="1800"/>
            </a:pPr>
            <a:r>
              <a:t>  - 查询用户订单</a:t>
            </a:r>
          </a:p>
          <a:p>
            <a:pPr lvl="1">
              <a:defRPr sz="1800"/>
            </a:pPr>
            <a:r>
              <a:t>  - 用户状态管理（启用/禁用）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员工管理</a:t>
            </a:r>
          </a:p>
          <a:p>
            <a:pPr lvl="1">
              <a:defRPr sz="1800"/>
            </a:pPr>
            <a:r>
              <a:t>  - 创建员工账号</a:t>
            </a:r>
          </a:p>
          <a:p>
            <a:pPr lvl="1">
              <a:defRPr sz="1800"/>
            </a:pPr>
            <a:r>
              <a:t>  - 分配角色和权限</a:t>
            </a:r>
          </a:p>
          <a:p>
            <a:pPr lvl="1">
              <a:defRPr sz="1800"/>
            </a:pPr>
            <a:r>
              <a:t>  - 重置密码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用户列表页面</a:t>
            </a:r>
          </a:p>
        </p:txBody>
      </p:sp>
      <p:pic>
        <p:nvPicPr>
          <p:cNvPr id="4" name="Picture 3" descr="13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查看用户信息，支持按条件筛选查询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员工管理页面</a:t>
            </a:r>
          </a:p>
        </p:txBody>
      </p:sp>
      <p:pic>
        <p:nvPicPr>
          <p:cNvPr id="4" name="Picture 3" descr="15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管理员工账号和权限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五、场地管理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场地列表</a:t>
            </a:r>
          </a:p>
          <a:p>
            <a:pPr lvl="1">
              <a:defRPr sz="1800"/>
            </a:pPr>
            <a:r>
              <a:t>  - 管理场地资源</a:t>
            </a:r>
          </a:p>
          <a:p>
            <a:pPr lvl="1">
              <a:defRPr sz="1800"/>
            </a:pPr>
            <a:r>
              <a:t>  - 设置开放时间和价格</a:t>
            </a:r>
          </a:p>
          <a:p>
            <a:pPr lvl="1">
              <a:defRPr sz="1800"/>
            </a:pPr>
            <a:r>
              <a:t>  - 场地上下架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场地订单</a:t>
            </a:r>
          </a:p>
          <a:p>
            <a:pPr lvl="1">
              <a:defRPr sz="1800"/>
            </a:pPr>
            <a:r>
              <a:t>  - 查看预订订单</a:t>
            </a:r>
          </a:p>
          <a:p>
            <a:pPr lvl="1">
              <a:defRPr sz="1800"/>
            </a:pPr>
            <a:r>
              <a:t>  - 订单确认和取消</a:t>
            </a:r>
          </a:p>
          <a:p>
            <a:pPr lvl="1">
              <a:defRPr sz="1800"/>
            </a:pPr>
            <a:r>
              <a:t>  - 退款处理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场地列表页面</a:t>
            </a:r>
          </a:p>
        </p:txBody>
      </p:sp>
      <p:pic>
        <p:nvPicPr>
          <p:cNvPr id="4" name="Picture 3" descr="16_venu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管理各类场地资源和配置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场地订单页面</a:t>
            </a:r>
          </a:p>
        </p:txBody>
      </p:sp>
      <p:pic>
        <p:nvPicPr>
          <p:cNvPr id="4" name="Picture 3" descr="18_venue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处理用户的场地预订订单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六、财务管理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商户结算审核</a:t>
            </a:r>
          </a:p>
          <a:p>
            <a:pPr lvl="1">
              <a:defRPr sz="1800"/>
            </a:pPr>
            <a:r>
              <a:t>  - 审核商户结算申请</a:t>
            </a:r>
          </a:p>
          <a:p>
            <a:pPr lvl="1">
              <a:defRPr sz="1800"/>
            </a:pPr>
            <a:r>
              <a:t>  - 确认结算金额</a:t>
            </a:r>
          </a:p>
          <a:p>
            <a:pPr lvl="1">
              <a:defRPr sz="1800"/>
            </a:pPr>
            <a:r>
              <a:t>  - 发起转账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财务报表</a:t>
            </a:r>
          </a:p>
          <a:p>
            <a:pPr lvl="1">
              <a:defRPr sz="1800"/>
            </a:pPr>
            <a:r>
              <a:t>  - 查看收入统计</a:t>
            </a:r>
          </a:p>
          <a:p>
            <a:pPr lvl="1">
              <a:defRPr sz="1800"/>
            </a:pPr>
            <a:r>
              <a:t>  - 导出财务报表</a:t>
            </a:r>
          </a:p>
          <a:p>
            <a:pPr lvl="1">
              <a:defRPr sz="1800"/>
            </a:pPr>
            <a:r>
              <a:t>  - 利润分析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商户结算审核</a:t>
            </a:r>
          </a:p>
        </p:txBody>
      </p:sp>
      <p:pic>
        <p:nvPicPr>
          <p:cNvPr id="4" name="Picture 3" descr="19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审核并处理商户的结算申请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七、营销管理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Banner管理</a:t>
            </a:r>
          </a:p>
          <a:p>
            <a:pPr lvl="1">
              <a:defRPr sz="1800"/>
            </a:pPr>
            <a:r>
              <a:t>  - 配置首页轮播图</a:t>
            </a:r>
          </a:p>
          <a:p>
            <a:pPr lvl="1">
              <a:defRPr sz="1800"/>
            </a:pPr>
            <a:r>
              <a:t>  - 设置跳转链接</a:t>
            </a:r>
          </a:p>
          <a:p>
            <a:pPr lvl="1">
              <a:defRPr sz="1800"/>
            </a:pPr>
            <a:r>
              <a:t>  - 调整显示顺序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优惠券管理</a:t>
            </a:r>
          </a:p>
          <a:p>
            <a:pPr lvl="1">
              <a:defRPr sz="1800"/>
            </a:pPr>
            <a:r>
              <a:t>  - 创建各类优惠券</a:t>
            </a:r>
          </a:p>
          <a:p>
            <a:pPr lvl="1">
              <a:defRPr sz="1800"/>
            </a:pPr>
            <a:r>
              <a:t>  - 发放优惠券</a:t>
            </a:r>
          </a:p>
          <a:p>
            <a:pPr lvl="1">
              <a:defRPr sz="1800"/>
            </a:pPr>
            <a:r>
              <a:t>  - 查看使用情况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Banner管理页面</a:t>
            </a:r>
          </a:p>
        </p:txBody>
      </p:sp>
      <p:pic>
        <p:nvPicPr>
          <p:cNvPr id="4" name="Picture 3" descr="21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管理小程序首页轮播Banner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优惠券列表页面</a:t>
            </a:r>
          </a:p>
        </p:txBody>
      </p:sp>
      <p:pic>
        <p:nvPicPr>
          <p:cNvPr id="4" name="Picture 3" descr="22_coup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创建和管理各类优惠券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八、积分管理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规则设置</a:t>
            </a:r>
          </a:p>
          <a:p>
            <a:pPr lvl="1">
              <a:defRPr sz="1800"/>
            </a:pPr>
            <a:r>
              <a:t>  - 配置积分获取规则</a:t>
            </a:r>
          </a:p>
          <a:p>
            <a:pPr lvl="1">
              <a:defRPr sz="1800"/>
            </a:pPr>
            <a:r>
              <a:t>  - 设置积分消耗规则</a:t>
            </a:r>
          </a:p>
          <a:p>
            <a:pPr lvl="1">
              <a:defRPr sz="1800"/>
            </a:pPr>
            <a:r>
              <a:t>  - 积分有效期管理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积分商城</a:t>
            </a:r>
          </a:p>
          <a:p>
            <a:pPr lvl="1">
              <a:defRPr sz="1800"/>
            </a:pPr>
            <a:r>
              <a:t>  - 管理兑换商品</a:t>
            </a:r>
          </a:p>
          <a:p>
            <a:pPr lvl="1">
              <a:defRPr sz="1800"/>
            </a:pPr>
            <a:r>
              <a:t>  - 设置兑换价格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积分订单</a:t>
            </a:r>
          </a:p>
          <a:p>
            <a:pPr lvl="1">
              <a:defRPr sz="1800"/>
            </a:pPr>
            <a:r>
              <a:t>  - 处理兑换订单</a:t>
            </a:r>
          </a:p>
          <a:p>
            <a:pPr lvl="1">
              <a:defRPr sz="1800"/>
            </a:pPr>
            <a:r>
              <a:t>  - 订单发货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积分规则设置</a:t>
            </a:r>
          </a:p>
        </p:txBody>
      </p:sp>
      <p:pic>
        <p:nvPicPr>
          <p:cNvPr id="4" name="Picture 3" descr="23_points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配置积分获取和使用规则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积分订单管理</a:t>
            </a:r>
          </a:p>
        </p:txBody>
      </p:sp>
      <p:pic>
        <p:nvPicPr>
          <p:cNvPr id="4" name="Picture 3" descr="25_points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处理用户的积分兑换订单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九、数据分析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销售统计</a:t>
            </a:r>
          </a:p>
          <a:p>
            <a:pPr lvl="1">
              <a:defRPr sz="1800"/>
            </a:pPr>
            <a:r>
              <a:t>  - 查看销售数据</a:t>
            </a:r>
          </a:p>
          <a:p>
            <a:pPr lvl="1">
              <a:defRPr sz="1800"/>
            </a:pPr>
            <a:r>
              <a:t>  - 销售趋势分析</a:t>
            </a:r>
          </a:p>
          <a:p>
            <a:pPr lvl="1">
              <a:defRPr sz="1800"/>
            </a:pPr>
            <a:r>
              <a:t>  - 品类占比分析</a:t>
            </a:r>
          </a:p>
          <a:p>
            <a:pPr lvl="1">
              <a:defRPr sz="1800"/>
            </a:pPr>
            <a:r>
              <a:t>  - 导出统计报表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关键指标</a:t>
            </a:r>
          </a:p>
          <a:p>
            <a:pPr lvl="1">
              <a:defRPr sz="1800"/>
            </a:pPr>
            <a:r>
              <a:t>  - 销售额、订单数</a:t>
            </a:r>
          </a:p>
          <a:p>
            <a:pPr lvl="1">
              <a:defRPr sz="1800"/>
            </a:pPr>
            <a:r>
              <a:t>  - 客单价、用户数</a:t>
            </a:r>
          </a:p>
          <a:p>
            <a:pPr lvl="1">
              <a:defRPr sz="1800"/>
            </a:pPr>
            <a:r>
              <a:t>  - 转化率、复购率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销售统计页面</a:t>
            </a:r>
          </a:p>
        </p:txBody>
      </p:sp>
      <p:pic>
        <p:nvPicPr>
          <p:cNvPr id="4" name="Picture 3" descr="20_sales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查看各类销售数据和趋势分析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十、系统设置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小游戏列表</a:t>
            </a:r>
          </a:p>
          <a:p>
            <a:pPr lvl="1">
              <a:defRPr sz="1800"/>
            </a:pPr>
            <a:r>
              <a:t>  - 管理互动小游戏</a:t>
            </a:r>
          </a:p>
          <a:p>
            <a:pPr lvl="1">
              <a:defRPr sz="1800"/>
            </a:pPr>
            <a:r>
              <a:t>  - 配置游戏规则</a:t>
            </a:r>
          </a:p>
          <a:p>
            <a:pPr lvl="1">
              <a:defRPr sz="1800"/>
            </a:pPr>
            <a:r>
              <a:t>  - 设置奖励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系统日志</a:t>
            </a:r>
          </a:p>
          <a:p>
            <a:pPr lvl="1">
              <a:defRPr sz="1800"/>
            </a:pPr>
            <a:r>
              <a:t>  - 查看操作记录</a:t>
            </a:r>
          </a:p>
          <a:p>
            <a:pPr lvl="1">
              <a:defRPr sz="1800"/>
            </a:pPr>
            <a:r>
              <a:t>  - 审计追踪</a:t>
            </a:r>
          </a:p>
          <a:p>
            <a:pPr lvl="1">
              <a:defRPr sz="1800"/>
            </a:pPr>
            <a:r>
              <a:t>  - 问题排查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小游戏列表</a:t>
            </a:r>
          </a:p>
        </p:txBody>
      </p:sp>
      <p:pic>
        <p:nvPicPr>
          <p:cNvPr id="4" name="Picture 3" descr="26_ga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管理小程序中的互动小游戏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系统日志</a:t>
            </a:r>
          </a:p>
        </p:txBody>
      </p:sp>
      <p:pic>
        <p:nvPicPr>
          <p:cNvPr id="4" name="Picture 3" descr="27_system_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查看系统操作日志，用于审计和排查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常见问题 - 登录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Q：忘记密码怎么办？</a:t>
            </a:r>
          </a:p>
          <a:p>
            <a:pPr>
              <a:defRPr sz="2000"/>
            </a:pPr>
            <a:r>
              <a:t>A：联系系统管理员重置密码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Q：为什么自动退出？</a:t>
            </a:r>
          </a:p>
          <a:p>
            <a:pPr>
              <a:defRPr sz="2000"/>
            </a:pPr>
            <a:r>
              <a:t>A：30分钟无操作会自动退出，请重新登录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Q：提示账号已在其他地方登录？</a:t>
            </a:r>
          </a:p>
          <a:p>
            <a:pPr>
              <a:defRPr sz="2000"/>
            </a:pPr>
            <a:r>
              <a:t>A：同一账号不能同时多处登录，请修改密码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常见问题 - 操作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Q：看不到某些菜单？</a:t>
            </a:r>
          </a:p>
          <a:p>
            <a:pPr>
              <a:defRPr sz="2000"/>
            </a:pPr>
            <a:r>
              <a:t>A：检查账号权限，联系管理员分配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Q：数据保存失败？</a:t>
            </a:r>
          </a:p>
          <a:p>
            <a:pPr>
              <a:defRPr sz="2000"/>
            </a:pPr>
            <a:r>
              <a:t>A：检查必填项、数据格式、网络连接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Q：图片上传失败？</a:t>
            </a:r>
          </a:p>
          <a:p>
            <a:pPr>
              <a:defRPr sz="2000"/>
            </a:pPr>
            <a:r>
              <a:t>A：检查图片大小（&lt;2MB）和格式（jpg/png/gif）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联系方式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技术支持</a:t>
            </a:r>
          </a:p>
          <a:p>
            <a:pPr lvl="1">
              <a:defRPr sz="1800"/>
            </a:pPr>
            <a:r>
              <a:t>  电话：400-xxx-xxxx</a:t>
            </a:r>
          </a:p>
          <a:p>
            <a:pPr lvl="1">
              <a:defRPr sz="1800"/>
            </a:pPr>
            <a:r>
              <a:t>  邮箱：support@bjstarfish.com</a:t>
            </a:r>
          </a:p>
          <a:p>
            <a:pPr lvl="1">
              <a:defRPr sz="1800"/>
            </a:pPr>
            <a:r>
              <a:t>  工作时间：周一至周日 9:00-18:00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运营团队</a:t>
            </a:r>
          </a:p>
          <a:p>
            <a:pPr lvl="1">
              <a:defRPr sz="1800"/>
            </a:pPr>
            <a:r>
              <a:t>  电话：010-xxxx-xxxx</a:t>
            </a:r>
          </a:p>
          <a:p>
            <a:pPr lvl="1">
              <a:defRPr sz="1800"/>
            </a:pPr>
            <a:r>
              <a:t>  邮箱：operation@bjstarfish.com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/>
            </a:pPr>
            <a:r>
              <a:t>谢谢！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/>
            </a:pPr>
            <a:r>
              <a:t>祝您使用愉快！</a:t>
            </a:r>
          </a:p>
          <a:p/>
          <a:p>
            <a:r>
              <a:t>如有疑问，请随时联系我们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